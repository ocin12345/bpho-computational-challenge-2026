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 SCRIPT (approximately 17–18 seconds)
Task 4 models Einstein's photoelectric equation for nine metals. Every stopping-potential curve has gradient h over e; the work function sets the threshold. Sodium reaches visible light up to 517 nanometres. Below threshold, no photoelectrons exist, so stopping potential is undefined. All forty-three independent checks passed.
CUES
0–7 s: curves and threshold markers.
7–12 s: sodium cut-off.
12–18 s: animation status and validation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gif"/><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AFC"/>
        </a:solidFill>
      </p:bgPr>
    </p:bg>
    <p:spTree>
      <p:nvGrpSpPr>
        <p:cNvPr id="1" name=""/>
        <p:cNvGrpSpPr/>
        <p:nvPr/>
      </p:nvGrpSpPr>
      <p:grpSpPr>
        <a:xfrm>
          <a:off x="0" y="0"/>
          <a:ext cx="0" cy="0"/>
          <a:chOff x="0" y="0"/>
          <a:chExt cx="0" cy="0"/>
        </a:xfrm>
      </p:grpSpPr>
      <p:sp>
        <p:nvSpPr>
          <p:cNvPr id="2" name="Text 0"/>
          <p:cNvSpPr/>
          <p:nvPr/>
        </p:nvSpPr>
        <p:spPr>
          <a:xfrm>
            <a:off x="475488" y="201168"/>
            <a:ext cx="11247120" cy="438912"/>
          </a:xfrm>
          <a:prstGeom prst="rect">
            <a:avLst/>
          </a:prstGeom>
          <a:noFill/>
          <a:ln/>
        </p:spPr>
        <p:txBody>
          <a:bodyPr wrap="square" lIns="0" tIns="0" rIns="0" bIns="0" rtlCol="0" anchor="ctr">
            <a:normAutofit/>
          </a:bodyPr>
          <a:lstStyle/>
          <a:p>
            <a:pPr indent="0" marL="0">
              <a:buNone/>
            </a:pPr>
            <a:r>
              <a:rPr lang="en-US" sz="2800" b="1" dirty="0">
                <a:solidFill>
                  <a:srgbClr val="243447"/>
                </a:solidFill>
                <a:latin typeface="Arial" pitchFamily="34" charset="0"/>
                <a:ea typeface="Arial" pitchFamily="34" charset="-122"/>
                <a:cs typeface="Arial" pitchFamily="34" charset="-120"/>
              </a:rPr>
              <a:t>Task 4 — Photoelectric Effect</a:t>
            </a:r>
            <a:endParaRPr lang="en-US" sz="2800" dirty="0"/>
          </a:p>
        </p:txBody>
      </p:sp>
      <p:sp>
        <p:nvSpPr>
          <p:cNvPr id="3" name="Text 1"/>
          <p:cNvSpPr/>
          <p:nvPr/>
        </p:nvSpPr>
        <p:spPr>
          <a:xfrm>
            <a:off x="493776" y="694944"/>
            <a:ext cx="11064240" cy="256032"/>
          </a:xfrm>
          <a:prstGeom prst="rect">
            <a:avLst/>
          </a:prstGeom>
          <a:noFill/>
          <a:ln/>
        </p:spPr>
        <p:txBody>
          <a:bodyPr wrap="square" lIns="0" tIns="0" rIns="0" bIns="0" rtlCol="0" anchor="ctr">
            <a:normAutofit/>
          </a:bodyPr>
          <a:lstStyle/>
          <a:p>
            <a:pPr indent="0" marL="0">
              <a:buNone/>
            </a:pPr>
            <a:r>
              <a:rPr lang="en-US" sz="1650" b="1" dirty="0">
                <a:solidFill>
                  <a:srgbClr val="0072B2"/>
                </a:solidFill>
                <a:latin typeface="Arial" pitchFamily="34" charset="0"/>
                <a:ea typeface="Arial" pitchFamily="34" charset="-122"/>
                <a:cs typeface="Arial" pitchFamily="34" charset="-120"/>
              </a:rPr>
              <a:t>Work function sets the emission threshold; photon energy above it sets the stopping potential.</a:t>
            </a:r>
            <a:endParaRPr lang="en-US" sz="1650" dirty="0"/>
          </a:p>
        </p:txBody>
      </p:sp>
      <p:sp>
        <p:nvSpPr>
          <p:cNvPr id="4" name="Shape 2"/>
          <p:cNvSpPr/>
          <p:nvPr/>
        </p:nvSpPr>
        <p:spPr>
          <a:xfrm>
            <a:off x="475488" y="1024128"/>
            <a:ext cx="11247120" cy="0"/>
          </a:xfrm>
          <a:prstGeom prst="line">
            <a:avLst/>
          </a:prstGeom>
          <a:noFill/>
          <a:ln w="28575">
            <a:solidFill>
              <a:srgbClr val="0072B2"/>
            </a:solidFill>
            <a:prstDash val="solid"/>
          </a:ln>
        </p:spPr>
      </p:sp>
      <p:sp>
        <p:nvSpPr>
          <p:cNvPr id="5" name="Shape 3"/>
          <p:cNvSpPr/>
          <p:nvPr/>
        </p:nvSpPr>
        <p:spPr>
          <a:xfrm>
            <a:off x="420624" y="1179576"/>
            <a:ext cx="7333488" cy="5148072"/>
          </a:xfrm>
          <a:prstGeom prst="roundRect">
            <a:avLst>
              <a:gd name="adj" fmla="val 888"/>
            </a:avLst>
          </a:prstGeom>
          <a:solidFill>
            <a:srgbClr val="FFFFFF"/>
          </a:solidFill>
          <a:ln w="12700">
            <a:solidFill>
              <a:srgbClr val="DCE3E8"/>
            </a:solidFill>
            <a:prstDash val="solid"/>
          </a:ln>
        </p:spPr>
      </p:sp>
      <p:pic>
        <p:nvPicPr>
          <p:cNvPr id="6" name="Image 0" descr="Stopping-potential magnitude against photon frequency for all nine official metals. Seven physical curves are visible because silver, aluminium, and lead coincide. Threshold markers show where each curve begins, and the absent region is no photoemission.">    </p:cNvPr>
          <p:cNvPicPr>
            <a:picLocks noChangeAspect="1"/>
          </p:cNvPicPr>
          <p:nvPr/>
        </p:nvPicPr>
        <p:blipFill>
          <a:blip r:embed="rId1"/>
          <a:stretch>
            <a:fillRect/>
          </a:stretch>
        </p:blipFill>
        <p:spPr>
          <a:xfrm>
            <a:off x="557784" y="1307592"/>
            <a:ext cx="7059168" cy="3941064"/>
          </a:xfrm>
          <a:prstGeom prst="rect">
            <a:avLst/>
          </a:prstGeom>
        </p:spPr>
      </p:pic>
      <p:sp>
        <p:nvSpPr>
          <p:cNvPr id="7" name="Shape 4"/>
          <p:cNvSpPr/>
          <p:nvPr/>
        </p:nvSpPr>
        <p:spPr>
          <a:xfrm>
            <a:off x="786384" y="5422392"/>
            <a:ext cx="6601968" cy="585216"/>
          </a:xfrm>
          <a:prstGeom prst="roundRect">
            <a:avLst>
              <a:gd name="adj" fmla="val 6250"/>
            </a:avLst>
          </a:prstGeom>
          <a:solidFill>
            <a:srgbClr val="FCEDE6"/>
          </a:solidFill>
          <a:ln w="12700">
            <a:solidFill>
              <a:srgbClr val="F0B397"/>
            </a:solidFill>
            <a:prstDash val="solid"/>
          </a:ln>
        </p:spPr>
      </p:sp>
      <p:sp>
        <p:nvSpPr>
          <p:cNvPr id="8" name="Text 5"/>
          <p:cNvSpPr/>
          <p:nvPr/>
        </p:nvSpPr>
        <p:spPr>
          <a:xfrm>
            <a:off x="923544" y="5577840"/>
            <a:ext cx="6327648" cy="228600"/>
          </a:xfrm>
          <a:prstGeom prst="rect">
            <a:avLst/>
          </a:prstGeom>
          <a:noFill/>
          <a:ln/>
        </p:spPr>
        <p:txBody>
          <a:bodyPr wrap="square" lIns="0" tIns="0" rIns="0" bIns="0" rtlCol="0" anchor="ctr">
            <a:normAutofit/>
          </a:bodyPr>
          <a:lstStyle/>
          <a:p>
            <a:pPr algn="ctr" indent="0" marL="0">
              <a:buNone/>
            </a:pPr>
            <a:r>
              <a:rPr lang="en-US" sz="1500" b="1" dirty="0">
                <a:solidFill>
                  <a:srgbClr val="D55E00"/>
                </a:solidFill>
                <a:latin typeface="Arial" pitchFamily="34" charset="0"/>
                <a:ea typeface="Arial" pitchFamily="34" charset="-122"/>
                <a:cs typeface="Arial" pitchFamily="34" charset="-120"/>
              </a:rPr>
              <a:t>All physical curves share gradient h/e; W shifts the threshold</a:t>
            </a:r>
            <a:endParaRPr lang="en-US" sz="1500" dirty="0"/>
          </a:p>
        </p:txBody>
      </p:sp>
      <p:sp>
        <p:nvSpPr>
          <p:cNvPr id="9" name="Shape 6"/>
          <p:cNvSpPr/>
          <p:nvPr/>
        </p:nvSpPr>
        <p:spPr>
          <a:xfrm>
            <a:off x="7936992" y="1179576"/>
            <a:ext cx="3831336" cy="2688336"/>
          </a:xfrm>
          <a:prstGeom prst="roundRect">
            <a:avLst>
              <a:gd name="adj" fmla="val 1701"/>
            </a:avLst>
          </a:prstGeom>
          <a:solidFill>
            <a:srgbClr val="FFFFFF"/>
          </a:solidFill>
          <a:ln w="12700">
            <a:solidFill>
              <a:srgbClr val="DCE3E8"/>
            </a:solidFill>
            <a:prstDash val="solid"/>
          </a:ln>
        </p:spPr>
      </p:sp>
      <p:pic>
        <p:nvPicPr>
          <p:cNvPr id="10" name="Image 1" descr="Four-scene schematic sodium photoelectric demonstration. At 550 nanometres there is no emission; at 450 nanometres electrons reach the collector; higher intensity adds illustrative electrons without changing maximum energy; and reverse stopping potential gives zero photocurrent.">    </p:cNvPr>
          <p:cNvPicPr>
            <a:picLocks noChangeAspect="1"/>
          </p:cNvPicPr>
          <p:nvPr/>
        </p:nvPicPr>
        <p:blipFill>
          <a:blip r:embed="rId2"/>
          <a:stretch>
            <a:fillRect/>
          </a:stretch>
        </p:blipFill>
        <p:spPr>
          <a:xfrm>
            <a:off x="8083296" y="1307592"/>
            <a:ext cx="3538728" cy="1993392"/>
          </a:xfrm>
          <a:prstGeom prst="rect">
            <a:avLst/>
          </a:prstGeom>
        </p:spPr>
      </p:pic>
      <p:sp>
        <p:nvSpPr>
          <p:cNvPr id="11" name="Text 7"/>
          <p:cNvSpPr/>
          <p:nvPr/>
        </p:nvSpPr>
        <p:spPr>
          <a:xfrm>
            <a:off x="8174736" y="3447288"/>
            <a:ext cx="3355848" cy="210312"/>
          </a:xfrm>
          <a:prstGeom prst="rect">
            <a:avLst/>
          </a:prstGeom>
          <a:noFill/>
          <a:ln/>
        </p:spPr>
        <p:txBody>
          <a:bodyPr wrap="square" lIns="0" tIns="0" rIns="0" bIns="0" rtlCol="0" anchor="ctr">
            <a:normAutofit/>
          </a:bodyPr>
          <a:lstStyle/>
          <a:p>
            <a:pPr algn="ctr" indent="0" marL="0">
              <a:buNone/>
            </a:pPr>
            <a:r>
              <a:rPr lang="en-US" sz="1250" b="1" dirty="0">
                <a:solidFill>
                  <a:srgbClr val="0072B2"/>
                </a:solidFill>
                <a:latin typeface="Arial" pitchFamily="34" charset="0"/>
                <a:ea typeface="Arial" pitchFamily="34" charset="-122"/>
                <a:cs typeface="Arial" pitchFamily="34" charset="-120"/>
              </a:rPr>
              <a:t>Intensity changes count, not maximum energy</a:t>
            </a:r>
            <a:endParaRPr lang="en-US" sz="1250" dirty="0"/>
          </a:p>
        </p:txBody>
      </p:sp>
      <p:sp>
        <p:nvSpPr>
          <p:cNvPr id="12" name="Shape 8"/>
          <p:cNvSpPr/>
          <p:nvPr/>
        </p:nvSpPr>
        <p:spPr>
          <a:xfrm>
            <a:off x="7936992" y="4041648"/>
            <a:ext cx="3831336" cy="2286000"/>
          </a:xfrm>
          <a:prstGeom prst="roundRect">
            <a:avLst>
              <a:gd name="adj" fmla="val 2000"/>
            </a:avLst>
          </a:prstGeom>
          <a:solidFill>
            <a:srgbClr val="FFFFFF"/>
          </a:solidFill>
          <a:ln w="12700">
            <a:solidFill>
              <a:srgbClr val="DCE3E8"/>
            </a:solidFill>
            <a:prstDash val="solid"/>
          </a:ln>
        </p:spPr>
      </p:sp>
      <p:sp>
        <p:nvSpPr>
          <p:cNvPr id="13" name="Text 9"/>
          <p:cNvSpPr/>
          <p:nvPr/>
        </p:nvSpPr>
        <p:spPr>
          <a:xfrm>
            <a:off x="8211312" y="4261104"/>
            <a:ext cx="3282696" cy="347472"/>
          </a:xfrm>
          <a:prstGeom prst="rect">
            <a:avLst/>
          </a:prstGeom>
          <a:noFill/>
          <a:ln/>
        </p:spPr>
        <p:txBody>
          <a:bodyPr wrap="square" lIns="0" tIns="0" rIns="0" bIns="0" rtlCol="0" anchor="ctr">
            <a:normAutofit/>
          </a:bodyPr>
          <a:lstStyle/>
          <a:p>
            <a:pPr algn="ctr" indent="0" marL="0">
              <a:buNone/>
            </a:pPr>
            <a:r>
              <a:rPr lang="en-US" sz="2300" b="1" dirty="0">
                <a:solidFill>
                  <a:srgbClr val="243447"/>
                </a:solidFill>
                <a:latin typeface="Arial" pitchFamily="34" charset="0"/>
                <a:ea typeface="Arial" pitchFamily="34" charset="-122"/>
                <a:cs typeface="Arial" pitchFamily="34" charset="-120"/>
              </a:rPr>
              <a:t>eVₛ = hf − W</a:t>
            </a:r>
            <a:endParaRPr lang="en-US" sz="2300" dirty="0"/>
          </a:p>
        </p:txBody>
      </p:sp>
      <p:sp>
        <p:nvSpPr>
          <p:cNvPr id="14" name="Text 10"/>
          <p:cNvSpPr/>
          <p:nvPr/>
        </p:nvSpPr>
        <p:spPr>
          <a:xfrm>
            <a:off x="8211312" y="4645152"/>
            <a:ext cx="3282696" cy="256032"/>
          </a:xfrm>
          <a:prstGeom prst="rect">
            <a:avLst/>
          </a:prstGeom>
          <a:noFill/>
          <a:ln/>
        </p:spPr>
        <p:txBody>
          <a:bodyPr wrap="square" lIns="0" tIns="0" rIns="0" bIns="0" rtlCol="0" anchor="ctr">
            <a:normAutofit/>
          </a:bodyPr>
          <a:lstStyle/>
          <a:p>
            <a:pPr algn="ctr" indent="0" marL="0">
              <a:buNone/>
            </a:pPr>
            <a:r>
              <a:rPr lang="en-US" sz="1650" dirty="0">
                <a:solidFill>
                  <a:srgbClr val="6B7B8C"/>
                </a:solidFill>
                <a:latin typeface="Arial" pitchFamily="34" charset="0"/>
                <a:ea typeface="Arial" pitchFamily="34" charset="-122"/>
                <a:cs typeface="Arial" pitchFamily="34" charset="-120"/>
              </a:rPr>
              <a:t>Vₛ = (h/e)f − W/e</a:t>
            </a:r>
            <a:endParaRPr lang="en-US" sz="1650" dirty="0"/>
          </a:p>
        </p:txBody>
      </p:sp>
      <p:sp>
        <p:nvSpPr>
          <p:cNvPr id="15" name="Text 11"/>
          <p:cNvSpPr/>
          <p:nvPr/>
        </p:nvSpPr>
        <p:spPr>
          <a:xfrm>
            <a:off x="8247888" y="5029200"/>
            <a:ext cx="3209544" cy="246888"/>
          </a:xfrm>
          <a:prstGeom prst="rect">
            <a:avLst/>
          </a:prstGeom>
          <a:noFill/>
          <a:ln/>
        </p:spPr>
        <p:txBody>
          <a:bodyPr wrap="square" lIns="0" tIns="0" rIns="0" bIns="0" rtlCol="0" anchor="ctr">
            <a:normAutofit/>
          </a:bodyPr>
          <a:lstStyle/>
          <a:p>
            <a:pPr algn="ctr" indent="0" marL="0">
              <a:buNone/>
            </a:pPr>
            <a:r>
              <a:rPr lang="en-US" sz="1550" b="1" dirty="0">
                <a:solidFill>
                  <a:srgbClr val="D55E00"/>
                </a:solidFill>
                <a:latin typeface="Arial" pitchFamily="34" charset="0"/>
                <a:ea typeface="Arial" pitchFamily="34" charset="-122"/>
                <a:cs typeface="Arial" pitchFamily="34" charset="-120"/>
              </a:rPr>
              <a:t>Na visible cut-off: 516.6 nm</a:t>
            </a:r>
            <a:endParaRPr lang="en-US" sz="1550" dirty="0"/>
          </a:p>
        </p:txBody>
      </p:sp>
      <p:sp>
        <p:nvSpPr>
          <p:cNvPr id="16" name="Shape 12"/>
          <p:cNvSpPr/>
          <p:nvPr/>
        </p:nvSpPr>
        <p:spPr>
          <a:xfrm>
            <a:off x="8458200" y="5513832"/>
            <a:ext cx="2788920" cy="512064"/>
          </a:xfrm>
          <a:prstGeom prst="roundRect">
            <a:avLst>
              <a:gd name="adj" fmla="val 7143"/>
            </a:avLst>
          </a:prstGeom>
          <a:solidFill>
            <a:srgbClr val="E7F5ED"/>
          </a:solidFill>
          <a:ln w="12700">
            <a:solidFill>
              <a:srgbClr val="8ED1AC"/>
            </a:solidFill>
            <a:prstDash val="solid"/>
          </a:ln>
        </p:spPr>
      </p:sp>
      <p:sp>
        <p:nvSpPr>
          <p:cNvPr id="17" name="Text 13"/>
          <p:cNvSpPr/>
          <p:nvPr/>
        </p:nvSpPr>
        <p:spPr>
          <a:xfrm>
            <a:off x="8613648" y="5641848"/>
            <a:ext cx="2478024" cy="219456"/>
          </a:xfrm>
          <a:prstGeom prst="rect">
            <a:avLst/>
          </a:prstGeom>
          <a:noFill/>
          <a:ln/>
        </p:spPr>
        <p:txBody>
          <a:bodyPr wrap="square" lIns="0" tIns="0" rIns="0" bIns="0" rtlCol="0" anchor="ctr">
            <a:normAutofit/>
          </a:bodyPr>
          <a:lstStyle/>
          <a:p>
            <a:pPr algn="ctr" indent="0" marL="0">
              <a:buNone/>
            </a:pPr>
            <a:r>
              <a:rPr lang="en-US" sz="1550" b="1" dirty="0">
                <a:solidFill>
                  <a:srgbClr val="009E73"/>
                </a:solidFill>
                <a:latin typeface="Arial" pitchFamily="34" charset="0"/>
                <a:ea typeface="Arial" pitchFamily="34" charset="-122"/>
                <a:cs typeface="Arial" pitchFamily="34" charset="-120"/>
              </a:rPr>
              <a:t>43/43 CHECKS PASS</a:t>
            </a:r>
            <a:endParaRPr lang="en-US" sz="1550" dirty="0"/>
          </a:p>
        </p:txBody>
      </p:sp>
      <p:sp>
        <p:nvSpPr>
          <p:cNvPr id="18" name="Text 14"/>
          <p:cNvSpPr/>
          <p:nvPr/>
        </p:nvSpPr>
        <p:spPr>
          <a:xfrm>
            <a:off x="8778240" y="6537960"/>
            <a:ext cx="2926080" cy="146304"/>
          </a:xfrm>
          <a:prstGeom prst="rect">
            <a:avLst/>
          </a:prstGeom>
          <a:noFill/>
          <a:ln/>
        </p:spPr>
        <p:txBody>
          <a:bodyPr wrap="square" lIns="0" tIns="0" rIns="0" bIns="0" rtlCol="0" anchor="ctr"/>
          <a:lstStyle/>
          <a:p>
            <a:pPr algn="r" indent="0" marL="0">
              <a:buNone/>
            </a:pPr>
            <a:r>
              <a:rPr lang="en-US" sz="850" dirty="0">
                <a:solidFill>
                  <a:srgbClr val="6B7B8C"/>
                </a:solidFill>
                <a:latin typeface="Arial" pitchFamily="34" charset="0"/>
                <a:ea typeface="Arial" pitchFamily="34" charset="-122"/>
                <a:cs typeface="Arial" pitchFamily="34" charset="-120"/>
              </a:rPr>
              <a:t>BPhO Computational Challenge 2026</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BPhO Computational Challenge 2026</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Task 4 — Photoelectric Effect</dc:title>
  <dc:subject>Task 4 photoelectric-effect presentation slide</dc:subject>
  <dc:creator>Ocin12345</dc:creator>
  <cp:lastModifiedBy>Ocin12345</cp:lastModifiedBy>
  <cp:revision>1</cp:revision>
  <dcterms:created xsi:type="dcterms:W3CDTF">2026-01-01T00:00:00Z</dcterms:created>
  <dcterms:modified xsi:type="dcterms:W3CDTF">2026-01-01T00:00:00Z</dcterms:modified>
</cp:coreProperties>
</file>