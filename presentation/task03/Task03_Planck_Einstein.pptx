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FINAL SCRIPT (approximately 17–18 seconds)
Task 3 models Planck radiation and Einstein heat capacity. Increasing temperature moves the black-body peak to shorter wavelengths, while total emission follows T to the fourth. For solids, the Einstein temperature sets how quickly heat capacity rises towards three R. All twenty-seven analytical and numerical checks passed.
CUES
0–7 s: Planck spectrum and peak shift.
7–14 s: Einstein curves and three-R limit.
14–18 s: validation band.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5488" y="201168"/>
            <a:ext cx="11247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2434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 3 — Thermal Radiation and Heat Capacity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93776" y="694944"/>
            <a:ext cx="11064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50" b="1" dirty="0">
                <a:solidFill>
                  <a:srgbClr val="0072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Hotter black bodies peak at shorter wavelengths; higher Tₑ delays the rise to 3R.</a:t>
            </a:r>
            <a:endParaRPr lang="en-US" sz="1650" dirty="0"/>
          </a:p>
        </p:txBody>
      </p:sp>
      <p:sp>
        <p:nvSpPr>
          <p:cNvPr id="4" name="Shape 2"/>
          <p:cNvSpPr/>
          <p:nvPr/>
        </p:nvSpPr>
        <p:spPr>
          <a:xfrm>
            <a:off x="475488" y="1024128"/>
            <a:ext cx="11247120" cy="0"/>
          </a:xfrm>
          <a:prstGeom prst="line">
            <a:avLst/>
          </a:prstGeom>
          <a:noFill/>
          <a:ln w="28575">
            <a:solidFill>
              <a:srgbClr val="0072B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20624" y="1179576"/>
            <a:ext cx="5596128" cy="3913632"/>
          </a:xfrm>
          <a:prstGeom prst="roundRect">
            <a:avLst>
              <a:gd name="adj" fmla="val 1168"/>
            </a:avLst>
          </a:prstGeom>
          <a:solidFill>
            <a:srgbClr val="FFFFFF"/>
          </a:solidFill>
          <a:ln w="12700">
            <a:solidFill>
              <a:srgbClr val="DCE3E8"/>
            </a:solidFill>
            <a:prstDash val="solid"/>
          </a:ln>
        </p:spPr>
      </p:sp>
      <p:pic>
        <p:nvPicPr>
          <p:cNvPr id="6" name="Image 0" descr="Planck spectral exitance from 100 to 3000 nanometres for 4000, 5000, and 6000 kelvin. The hotter curves are taller and peak at shorter wavelengths; the visible band and numerical peaks are marked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9496" y="1280160"/>
            <a:ext cx="5358384" cy="331927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4709160"/>
            <a:ext cx="51572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072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Peak shifts 724 → 483 nm from 4000 → 6000 K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172200" y="1179576"/>
            <a:ext cx="5596128" cy="3913632"/>
          </a:xfrm>
          <a:prstGeom prst="roundRect">
            <a:avLst>
              <a:gd name="adj" fmla="val 1168"/>
            </a:avLst>
          </a:prstGeom>
          <a:solidFill>
            <a:srgbClr val="FFFFFF"/>
          </a:solidFill>
          <a:ln w="12700">
            <a:solidFill>
              <a:srgbClr val="DCE3E8"/>
            </a:solidFill>
            <a:prstDash val="solid"/>
          </a:ln>
        </p:spPr>
      </p:sp>
      <p:pic>
        <p:nvPicPr>
          <p:cNvPr id="9" name="Image 1" descr="Einstein molar heat capacity from zero to 800 kelvin for seven official solids. Every curve rises from zero towards the dashed three-R Dulong–Petit limit, with carbon rising most slowly.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1072" y="1280160"/>
            <a:ext cx="5358384" cy="331927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391656" y="4709160"/>
            <a:ext cx="51572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D55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800 K: Au ≈ 3R; carbon remains below the limit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420624" y="5257800"/>
            <a:ext cx="11347704" cy="1069848"/>
          </a:xfrm>
          <a:prstGeom prst="roundRect">
            <a:avLst>
              <a:gd name="adj" fmla="val 4274"/>
            </a:avLst>
          </a:prstGeom>
          <a:solidFill>
            <a:srgbClr val="FFFFFF"/>
          </a:solidFill>
          <a:ln w="12700">
            <a:solidFill>
              <a:srgbClr val="DCE3E8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58368" y="5440680"/>
            <a:ext cx="2304288" cy="585216"/>
          </a:xfrm>
          <a:prstGeom prst="roundRect">
            <a:avLst>
              <a:gd name="adj" fmla="val 6250"/>
            </a:avLst>
          </a:prstGeom>
          <a:solidFill>
            <a:srgbClr val="E7F5ED"/>
          </a:solidFill>
          <a:ln w="12700">
            <a:solidFill>
              <a:srgbClr val="8ED1AC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68096" y="5568696"/>
            <a:ext cx="208483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009E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27/27 CHECKS PASS</a:t>
            </a:r>
            <a:endParaRPr lang="en-US" sz="1550" dirty="0"/>
          </a:p>
        </p:txBody>
      </p:sp>
      <p:sp>
        <p:nvSpPr>
          <p:cNvPr id="14" name="Shape 10"/>
          <p:cNvSpPr/>
          <p:nvPr/>
        </p:nvSpPr>
        <p:spPr>
          <a:xfrm>
            <a:off x="3264408" y="5449824"/>
            <a:ext cx="45720" cy="630936"/>
          </a:xfrm>
          <a:prstGeom prst="line">
            <a:avLst/>
          </a:prstGeom>
          <a:noFill/>
          <a:ln w="40640">
            <a:solidFill>
              <a:srgbClr val="0072B2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3438144" y="5422392"/>
            <a:ext cx="3493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6B7B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PLANCK VALIDATION</a:t>
            </a:r>
            <a:endParaRPr lang="en-US" sz="1250" dirty="0"/>
          </a:p>
        </p:txBody>
      </p:sp>
      <p:sp>
        <p:nvSpPr>
          <p:cNvPr id="16" name="Text 12"/>
          <p:cNvSpPr/>
          <p:nvPr/>
        </p:nvSpPr>
        <p:spPr>
          <a:xfrm>
            <a:off x="3438144" y="5705856"/>
            <a:ext cx="3493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50" b="1" dirty="0">
                <a:solidFill>
                  <a:srgbClr val="2434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λₘₐₓT = b   •   M = σT⁴</a:t>
            </a:r>
            <a:endParaRPr lang="en-US" sz="1750" dirty="0"/>
          </a:p>
        </p:txBody>
      </p:sp>
      <p:sp>
        <p:nvSpPr>
          <p:cNvPr id="17" name="Shape 13"/>
          <p:cNvSpPr/>
          <p:nvPr/>
        </p:nvSpPr>
        <p:spPr>
          <a:xfrm>
            <a:off x="7333488" y="5449824"/>
            <a:ext cx="45720" cy="630936"/>
          </a:xfrm>
          <a:prstGeom prst="line">
            <a:avLst/>
          </a:prstGeom>
          <a:noFill/>
          <a:ln w="40640">
            <a:solidFill>
              <a:srgbClr val="D55E00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7507224" y="5422392"/>
            <a:ext cx="3493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6B7B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EINSTEIN VALIDATION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7507224" y="5705856"/>
            <a:ext cx="3493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50" b="1" dirty="0">
                <a:solidFill>
                  <a:srgbClr val="2434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≤ Cᵥ ≤ 3R   •   universal vs T/Tₑ</a:t>
            </a:r>
            <a:endParaRPr lang="en-US" sz="1750" dirty="0"/>
          </a:p>
        </p:txBody>
      </p:sp>
      <p:sp>
        <p:nvSpPr>
          <p:cNvPr id="20" name="Text 16"/>
          <p:cNvSpPr/>
          <p:nvPr/>
        </p:nvSpPr>
        <p:spPr>
          <a:xfrm>
            <a:off x="8778240" y="6537960"/>
            <a:ext cx="2926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B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BPhO Computational Challenge 2026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BPhO Computational Challenge 2026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 3 — Thermal Radiation and Heat Capacity</dc:title>
  <dc:subject>Task 3 Planck radiation and Einstein heat capacity slide</dc:subject>
  <dc:creator>Ocin12345</dc:creator>
  <cp:lastModifiedBy>Ocin12345</cp:lastModifiedBy>
  <cp:revision>1</cp:revision>
  <dcterms:created xsi:type="dcterms:W3CDTF">2026-07-16T04:59:06Z</dcterms:created>
  <dcterms:modified xsi:type="dcterms:W3CDTF">2026-07-16T04:59:06Z</dcterms:modified>
</cp:coreProperties>
</file>