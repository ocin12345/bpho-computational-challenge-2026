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SCRIPT (approximately 17–18 seconds)
Task 2 models one thousand small particles colliding with a larger particle initially at rest, producing an irregular path. Across sixty-four runs, displacement was unbiased and mean-squared displacement was linear: R squared 0.983, with a diffusion coefficient of 2.25 times ten to the minus three.
CUES
0–6 s: tracer animation and trail.
6–12 s: endpoint cloud and unbiased result.
12–18 s: linear fit and diffusion coefficient.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gif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01168"/>
            <a:ext cx="11247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 — Collision-Driven Brownian Motion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93776" y="69494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007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molecular impacts produce unbiased diffusive tracer motion.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475488" y="1024128"/>
            <a:ext cx="11247120" cy="0"/>
          </a:xfrm>
          <a:prstGeom prst="line">
            <a:avLst/>
          </a:prstGeom>
          <a:noFill/>
          <a:ln w="28575">
            <a:solidFill>
              <a:srgbClr val="0072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" y="1197864"/>
            <a:ext cx="4005072" cy="5202936"/>
          </a:xfrm>
          <a:prstGeom prst="roundRect">
            <a:avLst>
              <a:gd name="adj" fmla="val 1142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6" name="Image 0" descr="One thousand blue small particles collide with a large translucent yellow tracer while an orange irregular path accumulat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62456"/>
            <a:ext cx="3675888" cy="3675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48656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simulation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85216" y="5605272"/>
            <a:ext cx="3675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1,000  •  200 ps  •  3,721 collision impulses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608576" y="1197864"/>
            <a:ext cx="7168896" cy="3273552"/>
          </a:xfrm>
          <a:prstGeom prst="roundRect">
            <a:avLst>
              <a:gd name="adj" fmla="val 139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10" name="Image 1" descr="A 64-run mean-squared-displacement curve with a linear fit and confidence band, beside an approximately circular endpoint clou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380744"/>
            <a:ext cx="6839712" cy="295351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608576" y="4645152"/>
            <a:ext cx="7168896" cy="1755648"/>
          </a:xfrm>
          <a:prstGeom prst="roundRect">
            <a:avLst>
              <a:gd name="adj" fmla="val 2604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55464" y="4910328"/>
            <a:ext cx="128016" cy="128016"/>
          </a:xfrm>
          <a:prstGeom prst="ellipse">
            <a:avLst/>
          </a:prstGeom>
          <a:solidFill>
            <a:srgbClr val="009E73"/>
          </a:solidFill>
          <a:ln w="12700">
            <a:solidFill>
              <a:srgbClr val="009E73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102352" y="4837176"/>
            <a:ext cx="641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64-run ensemble: ⟨Δx⟩ and ⟨Δy⟩ 95% CIs include 0</a:t>
            </a:r>
            <a:endParaRPr lang="en-US" sz="1750" dirty="0"/>
          </a:p>
        </p:txBody>
      </p:sp>
      <p:sp>
        <p:nvSpPr>
          <p:cNvPr id="14" name="Shape 10"/>
          <p:cNvSpPr/>
          <p:nvPr/>
        </p:nvSpPr>
        <p:spPr>
          <a:xfrm>
            <a:off x="4855464" y="5385816"/>
            <a:ext cx="128016" cy="128016"/>
          </a:xfrm>
          <a:prstGeom prst="ellipse">
            <a:avLst/>
          </a:prstGeom>
          <a:solidFill>
            <a:srgbClr val="D55E00"/>
          </a:solidFill>
          <a:ln w="12700">
            <a:solidFill>
              <a:srgbClr val="D55E00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02352" y="5312664"/>
            <a:ext cx="641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MSD ∝ t: R² = 0.983; D = 2.25 × 10⁻³ nm² ps⁻¹</a:t>
            </a:r>
            <a:endParaRPr lang="en-US" sz="1750" dirty="0"/>
          </a:p>
        </p:txBody>
      </p:sp>
      <p:sp>
        <p:nvSpPr>
          <p:cNvPr id="16" name="Shape 12"/>
          <p:cNvSpPr/>
          <p:nvPr/>
        </p:nvSpPr>
        <p:spPr>
          <a:xfrm>
            <a:off x="4855464" y="5861304"/>
            <a:ext cx="128016" cy="128016"/>
          </a:xfrm>
          <a:prstGeom prst="ellipse">
            <a:avLst/>
          </a:prstGeom>
          <a:solidFill>
            <a:srgbClr val="0072B2"/>
          </a:solidFill>
          <a:ln w="12700">
            <a:solidFill>
              <a:srgbClr val="0072B2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102352" y="5788152"/>
            <a:ext cx="6419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Time-step halving: ΔD = 5.7%; all 224 runs numerically valid</a:t>
            </a:r>
            <a:endParaRPr lang="en-US" sz="1750" dirty="0"/>
          </a:p>
        </p:txBody>
      </p:sp>
      <p:sp>
        <p:nvSpPr>
          <p:cNvPr id="18" name="Text 14"/>
          <p:cNvSpPr/>
          <p:nvPr/>
        </p:nvSpPr>
        <p:spPr>
          <a:xfrm>
            <a:off x="8778240" y="653796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BPhO Computational Challenge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BPhO Computational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 — Collision-Driven Brownian Motion</dc:title>
  <dc:subject>Task 2 Brownian motion presentation slide</dc:subject>
  <dc:creator>Ocin12345</dc:creator>
  <cp:lastModifiedBy>Ocin12345</cp:lastModifiedBy>
  <cp:revision>1</cp:revision>
  <dcterms:created xsi:type="dcterms:W3CDTF">2026-07-15T18:31:00Z</dcterms:created>
  <dcterms:modified xsi:type="dcterms:W3CDTF">2026-07-15T18:31:00Z</dcterms:modified>
</cp:coreProperties>
</file>